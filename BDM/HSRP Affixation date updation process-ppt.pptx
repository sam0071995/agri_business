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52" r:id="rId2"/>
    <p:sldId id="353" r:id="rId3"/>
    <p:sldId id="354" r:id="rId4"/>
    <p:sldId id="356" r:id="rId5"/>
    <p:sldId id="320" r:id="rId6"/>
  </p:sldIdLst>
  <p:sldSz cx="12192000" cy="6858000"/>
  <p:notesSz cx="6858000" cy="99472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3F48CC"/>
    <a:srgbClr val="FF6600"/>
    <a:srgbClr val="CC6600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047" autoAdjust="0"/>
    <p:restoredTop sz="94000" autoAdjust="0"/>
  </p:normalViewPr>
  <p:slideViewPr>
    <p:cSldViewPr snapToGrid="0">
      <p:cViewPr varScale="1">
        <p:scale>
          <a:sx n="68" d="100"/>
          <a:sy n="68" d="100"/>
        </p:scale>
        <p:origin x="1182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CC3B27-A179-401D-97CC-EB6D0933D56B}" type="datetimeFigureOut">
              <a:rPr lang="en-US" smtClean="0"/>
              <a:pPr/>
              <a:t>11/26/2019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87126"/>
            <a:ext cx="5486400" cy="39167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BF3E86-BFB1-45DB-BCE9-3588D9BCF2C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389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BF3E86-BFB1-45DB-BCE9-3588D9BCF2C0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6330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BF3E86-BFB1-45DB-BCE9-3588D9BCF2C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68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EC5E5-760D-4945-A384-48F7C2C0A9A5}" type="datetimeFigureOut">
              <a:rPr lang="en-US" smtClean="0"/>
              <a:pPr/>
              <a:t>11/26/2019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074BC-B5B6-42FB-BA6B-D12FC41842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89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EC5E5-760D-4945-A384-48F7C2C0A9A5}" type="datetimeFigureOut">
              <a:rPr lang="en-US" smtClean="0"/>
              <a:pPr/>
              <a:t>11/26/2019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074BC-B5B6-42FB-BA6B-D12FC41842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905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EC5E5-760D-4945-A384-48F7C2C0A9A5}" type="datetimeFigureOut">
              <a:rPr lang="en-US" smtClean="0"/>
              <a:pPr/>
              <a:t>11/26/2019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074BC-B5B6-42FB-BA6B-D12FC41842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455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EC5E5-760D-4945-A384-48F7C2C0A9A5}" type="datetimeFigureOut">
              <a:rPr lang="en-US" smtClean="0"/>
              <a:pPr/>
              <a:t>11/26/2019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074BC-B5B6-42FB-BA6B-D12FC41842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245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EC5E5-760D-4945-A384-48F7C2C0A9A5}" type="datetimeFigureOut">
              <a:rPr lang="en-US" smtClean="0"/>
              <a:pPr/>
              <a:t>11/26/2019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074BC-B5B6-42FB-BA6B-D12FC41842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063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EC5E5-760D-4945-A384-48F7C2C0A9A5}" type="datetimeFigureOut">
              <a:rPr lang="en-US" smtClean="0"/>
              <a:pPr/>
              <a:t>11/26/2019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074BC-B5B6-42FB-BA6B-D12FC41842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968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EC5E5-760D-4945-A384-48F7C2C0A9A5}" type="datetimeFigureOut">
              <a:rPr lang="en-US" smtClean="0"/>
              <a:pPr/>
              <a:t>11/26/2019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074BC-B5B6-42FB-BA6B-D12FC41842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846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EC5E5-760D-4945-A384-48F7C2C0A9A5}" type="datetimeFigureOut">
              <a:rPr lang="en-US" smtClean="0"/>
              <a:pPr/>
              <a:t>11/26/2019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074BC-B5B6-42FB-BA6B-D12FC41842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463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EC5E5-760D-4945-A384-48F7C2C0A9A5}" type="datetimeFigureOut">
              <a:rPr lang="en-US" smtClean="0"/>
              <a:pPr/>
              <a:t>11/26/2019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074BC-B5B6-42FB-BA6B-D12FC41842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491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EC5E5-760D-4945-A384-48F7C2C0A9A5}" type="datetimeFigureOut">
              <a:rPr lang="en-US" smtClean="0"/>
              <a:pPr/>
              <a:t>11/26/2019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074BC-B5B6-42FB-BA6B-D12FC41842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622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EC5E5-760D-4945-A384-48F7C2C0A9A5}" type="datetimeFigureOut">
              <a:rPr lang="en-US" smtClean="0"/>
              <a:pPr/>
              <a:t>11/26/2019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E074BC-B5B6-42FB-BA6B-D12FC41842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408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4EC5E5-760D-4945-A384-48F7C2C0A9A5}" type="datetimeFigureOut">
              <a:rPr lang="en-US" smtClean="0"/>
              <a:pPr/>
              <a:t>11/26/2019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E074BC-B5B6-42FB-BA6B-D12FC41842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238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-1" y="41991"/>
            <a:ext cx="12188952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50479" y="3253154"/>
            <a:ext cx="1203835" cy="12192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837222" y="1981200"/>
            <a:ext cx="1203835" cy="12192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>
            <a:stCxn id="7" idx="6"/>
          </p:cNvCxnSpPr>
          <p:nvPr/>
        </p:nvCxnSpPr>
        <p:spPr>
          <a:xfrm>
            <a:off x="5041057" y="2590800"/>
            <a:ext cx="7132720" cy="0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492495" y="2133600"/>
            <a:ext cx="0" cy="914400"/>
          </a:xfrm>
          <a:prstGeom prst="line">
            <a:avLst/>
          </a:prstGeom>
          <a:ln w="38100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5567735" y="2133600"/>
            <a:ext cx="0" cy="914400"/>
          </a:xfrm>
          <a:prstGeom prst="line">
            <a:avLst/>
          </a:prstGeom>
          <a:ln w="38100">
            <a:solidFill>
              <a:schemeClr val="bg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5377235" y="2440321"/>
            <a:ext cx="381000" cy="300959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c 19"/>
          <p:cNvSpPr>
            <a:spLocks noChangeAspect="1"/>
          </p:cNvSpPr>
          <p:nvPr/>
        </p:nvSpPr>
        <p:spPr>
          <a:xfrm>
            <a:off x="601917" y="685800"/>
            <a:ext cx="3912462" cy="3962400"/>
          </a:xfrm>
          <a:prstGeom prst="arc">
            <a:avLst>
              <a:gd name="adj1" fmla="val 9740033"/>
              <a:gd name="adj2" fmla="val 20339225"/>
            </a:avLst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499031" y="146539"/>
            <a:ext cx="1203835" cy="121920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2" cstate="print">
            <a:lum bright="-6000" contrast="29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593980" y="453684"/>
            <a:ext cx="978768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3" name="Straight Connector 22"/>
          <p:cNvCxnSpPr/>
          <p:nvPr/>
        </p:nvCxnSpPr>
        <p:spPr>
          <a:xfrm>
            <a:off x="3563949" y="5371513"/>
            <a:ext cx="8595360" cy="0"/>
          </a:xfrm>
          <a:prstGeom prst="line">
            <a:avLst/>
          </a:prstGeom>
          <a:ln w="3810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5665693" y="2631831"/>
            <a:ext cx="652325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HIGH SECURITY REGISTRATION PLATES SCHEME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9945" y="6063469"/>
            <a:ext cx="2172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Century Gothic" pitchFamily="34" charset="0"/>
              </a:rPr>
              <a:t>www.hsrp.in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 cstate="print">
            <a:duotone>
              <a:schemeClr val="accent3">
                <a:shade val="45000"/>
                <a:satMod val="135000"/>
              </a:schemeClr>
              <a:prstClr val="white"/>
            </a:duotone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6000" contrast="29000"/>
          </a:blip>
          <a:stretch>
            <a:fillRect/>
          </a:stretch>
        </p:blipFill>
        <p:spPr>
          <a:xfrm>
            <a:off x="399722" y="3473550"/>
            <a:ext cx="670178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 cstate="print">
            <a:lum bright="-6000" contrast="29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127287" y="2248193"/>
            <a:ext cx="614238" cy="640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201F499C-148A-467A-869E-E5A3B3A64DA1}"/>
              </a:ext>
            </a:extLst>
          </p:cNvPr>
          <p:cNvSpPr/>
          <p:nvPr/>
        </p:nvSpPr>
        <p:spPr>
          <a:xfrm>
            <a:off x="5189631" y="3716719"/>
            <a:ext cx="652325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Update Process Flow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6E4260-D8C2-4AD9-9CC6-B0E53EC6697C}"/>
              </a:ext>
            </a:extLst>
          </p:cNvPr>
          <p:cNvSpPr/>
          <p:nvPr/>
        </p:nvSpPr>
        <p:spPr>
          <a:xfrm>
            <a:off x="5041057" y="5972532"/>
            <a:ext cx="70273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Presented to : OEM Dealers</a:t>
            </a:r>
          </a:p>
        </p:txBody>
      </p:sp>
      <p:pic>
        <p:nvPicPr>
          <p:cNvPr id="21" name="Picture 20" descr="A close up of a sign&#10;&#10;Description generated with high confidence">
            <a:extLst>
              <a:ext uri="{FF2B5EF4-FFF2-40B4-BE49-F238E27FC236}">
                <a16:creationId xmlns:a16="http://schemas.microsoft.com/office/drawing/2014/main" id="{ED2E6D33-6DCD-4DCF-9709-9F78B039AA8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587" y="1633025"/>
            <a:ext cx="2321169" cy="11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870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Hexagon 32"/>
          <p:cNvSpPr/>
          <p:nvPr/>
        </p:nvSpPr>
        <p:spPr>
          <a:xfrm>
            <a:off x="287972" y="6446520"/>
            <a:ext cx="2011680" cy="304800"/>
          </a:xfrm>
          <a:prstGeom prst="hexagon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Century Gothic" pitchFamily="34" charset="0"/>
              </a:rPr>
              <a:t>www.hsrp.in</a:t>
            </a:r>
          </a:p>
        </p:txBody>
      </p:sp>
      <p:pic>
        <p:nvPicPr>
          <p:cNvPr id="96" name="Picture 95"/>
          <p:cNvPicPr>
            <a:picLocks noChangeAspect="1"/>
          </p:cNvPicPr>
          <p:nvPr/>
        </p:nvPicPr>
        <p:blipFill>
          <a:blip r:embed="rId3" cstate="print">
            <a:lum bright="70000" contrast="-7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85684" y="7461661"/>
            <a:ext cx="264043" cy="274320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526897" y="135376"/>
            <a:ext cx="38059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Century Gothic" panose="020B0502020202020204" pitchFamily="34" charset="0"/>
              </a:rPr>
              <a:t>Update HSRP Process Flow</a:t>
            </a:r>
            <a:endParaRPr lang="en-US" u="sng" dirty="0">
              <a:latin typeface="Century Gothic" panose="020B0502020202020204" pitchFamily="34" charset="0"/>
            </a:endParaRPr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B5937BE2-5541-453F-8B58-B25423BE94E1}"/>
              </a:ext>
            </a:extLst>
          </p:cNvPr>
          <p:cNvCxnSpPr>
            <a:cxnSpLocks/>
          </p:cNvCxnSpPr>
          <p:nvPr/>
        </p:nvCxnSpPr>
        <p:spPr>
          <a:xfrm flipV="1">
            <a:off x="2299652" y="6590029"/>
            <a:ext cx="9289568" cy="889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Hexagon 41">
            <a:extLst>
              <a:ext uri="{FF2B5EF4-FFF2-40B4-BE49-F238E27FC236}">
                <a16:creationId xmlns:a16="http://schemas.microsoft.com/office/drawing/2014/main" id="{ABE445A5-5E7D-4E73-B526-534118C95908}"/>
              </a:ext>
            </a:extLst>
          </p:cNvPr>
          <p:cNvSpPr/>
          <p:nvPr/>
        </p:nvSpPr>
        <p:spPr>
          <a:xfrm>
            <a:off x="11479237" y="6348567"/>
            <a:ext cx="624778" cy="424342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Century Gothic" pitchFamily="34" charset="0"/>
              </a:rPr>
              <a:t>1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6F6DAC6-C4D9-4349-ABDE-B44251F7EB4C}"/>
              </a:ext>
            </a:extLst>
          </p:cNvPr>
          <p:cNvSpPr/>
          <p:nvPr/>
        </p:nvSpPr>
        <p:spPr>
          <a:xfrm>
            <a:off x="123093" y="91442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 lang="en-US" sz="3200" dirty="0">
              <a:latin typeface="Century Gothic" panose="020B0502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21E2658-EF66-4CB7-A924-8A427A67C2F9}"/>
              </a:ext>
            </a:extLst>
          </p:cNvPr>
          <p:cNvSpPr/>
          <p:nvPr/>
        </p:nvSpPr>
        <p:spPr>
          <a:xfrm>
            <a:off x="103897" y="55453"/>
            <a:ext cx="4683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“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E3E7863-AB85-4586-BFC3-456AECC769DC}"/>
              </a:ext>
            </a:extLst>
          </p:cNvPr>
          <p:cNvSpPr txBox="1"/>
          <p:nvPr/>
        </p:nvSpPr>
        <p:spPr>
          <a:xfrm>
            <a:off x="10514935" y="6337310"/>
            <a:ext cx="1074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Contd.</a:t>
            </a:r>
          </a:p>
        </p:txBody>
      </p:sp>
      <p:sp>
        <p:nvSpPr>
          <p:cNvPr id="24" name="Rounded Rectangle 16">
            <a:extLst>
              <a:ext uri="{FF2B5EF4-FFF2-40B4-BE49-F238E27FC236}">
                <a16:creationId xmlns:a16="http://schemas.microsoft.com/office/drawing/2014/main" id="{39CCD9FB-C764-4119-9A7F-386F50C22EB6}"/>
              </a:ext>
            </a:extLst>
          </p:cNvPr>
          <p:cNvSpPr/>
          <p:nvPr/>
        </p:nvSpPr>
        <p:spPr>
          <a:xfrm>
            <a:off x="4332849" y="1178963"/>
            <a:ext cx="3882683" cy="468432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476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Dealer places an order for Embossed HSRP with FTA  </a:t>
            </a:r>
          </a:p>
        </p:txBody>
      </p:sp>
      <p:sp>
        <p:nvSpPr>
          <p:cNvPr id="25" name="Rounded Rectangle 16">
            <a:extLst>
              <a:ext uri="{FF2B5EF4-FFF2-40B4-BE49-F238E27FC236}">
                <a16:creationId xmlns:a16="http://schemas.microsoft.com/office/drawing/2014/main" id="{7744558C-91DC-4E45-A894-0EE6E32C1CF1}"/>
              </a:ext>
            </a:extLst>
          </p:cNvPr>
          <p:cNvSpPr/>
          <p:nvPr/>
        </p:nvSpPr>
        <p:spPr>
          <a:xfrm>
            <a:off x="4332849" y="1966920"/>
            <a:ext cx="3882683" cy="3547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476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HSRP order received at the respective Embossing Centre</a:t>
            </a:r>
          </a:p>
        </p:txBody>
      </p:sp>
      <p:sp>
        <p:nvSpPr>
          <p:cNvPr id="26" name="Rounded Rectangle 16">
            <a:extLst>
              <a:ext uri="{FF2B5EF4-FFF2-40B4-BE49-F238E27FC236}">
                <a16:creationId xmlns:a16="http://schemas.microsoft.com/office/drawing/2014/main" id="{69994898-0195-41A9-97B0-901D4DEBBB80}"/>
              </a:ext>
            </a:extLst>
          </p:cNvPr>
          <p:cNvSpPr/>
          <p:nvPr/>
        </p:nvSpPr>
        <p:spPr>
          <a:xfrm>
            <a:off x="4093698" y="2641754"/>
            <a:ext cx="4360985" cy="447127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476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HSRP Embossed and unique LIDs duly mapped against registration number in FTA HSRP portal</a:t>
            </a:r>
          </a:p>
        </p:txBody>
      </p:sp>
      <p:sp>
        <p:nvSpPr>
          <p:cNvPr id="27" name="Rounded Rectangle 16">
            <a:extLst>
              <a:ext uri="{FF2B5EF4-FFF2-40B4-BE49-F238E27FC236}">
                <a16:creationId xmlns:a16="http://schemas.microsoft.com/office/drawing/2014/main" id="{1CC514B2-3309-4437-B874-7381D360D37B}"/>
              </a:ext>
            </a:extLst>
          </p:cNvPr>
          <p:cNvSpPr/>
          <p:nvPr/>
        </p:nvSpPr>
        <p:spPr>
          <a:xfrm>
            <a:off x="4332849" y="3398136"/>
            <a:ext cx="3882683" cy="354700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476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Embossed HSRP dispatched to respective Dealer</a:t>
            </a:r>
          </a:p>
        </p:txBody>
      </p:sp>
      <p:sp>
        <p:nvSpPr>
          <p:cNvPr id="28" name="Rounded Rectangle 16">
            <a:extLst>
              <a:ext uri="{FF2B5EF4-FFF2-40B4-BE49-F238E27FC236}">
                <a16:creationId xmlns:a16="http://schemas.microsoft.com/office/drawing/2014/main" id="{DBF8C805-774C-42FD-B7F2-C79D240CD003}"/>
              </a:ext>
            </a:extLst>
          </p:cNvPr>
          <p:cNvSpPr/>
          <p:nvPr/>
        </p:nvSpPr>
        <p:spPr>
          <a:xfrm>
            <a:off x="4332849" y="4059507"/>
            <a:ext cx="3882683" cy="367905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476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Embossed HSRP duly received at Dealer premises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C5BD55C-D38C-487F-A14A-1E1D1D762E91}"/>
              </a:ext>
            </a:extLst>
          </p:cNvPr>
          <p:cNvCxnSpPr>
            <a:cxnSpLocks/>
            <a:stCxn id="24" idx="2"/>
            <a:endCxn id="25" idx="0"/>
          </p:cNvCxnSpPr>
          <p:nvPr/>
        </p:nvCxnSpPr>
        <p:spPr>
          <a:xfrm>
            <a:off x="6274191" y="1647395"/>
            <a:ext cx="0" cy="319525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E0BE7DD-9793-45E9-889B-E43727E72B4D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>
            <a:off x="6274191" y="2321620"/>
            <a:ext cx="0" cy="320134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6741EF3-0F2C-469B-9BD1-79A66EF3B876}"/>
              </a:ext>
            </a:extLst>
          </p:cNvPr>
          <p:cNvCxnSpPr>
            <a:cxnSpLocks/>
            <a:stCxn id="26" idx="2"/>
            <a:endCxn id="27" idx="0"/>
          </p:cNvCxnSpPr>
          <p:nvPr/>
        </p:nvCxnSpPr>
        <p:spPr>
          <a:xfrm>
            <a:off x="6274191" y="3088881"/>
            <a:ext cx="0" cy="309255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B6BD0CB-AE31-49ED-A5EB-4F982743861F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>
            <a:off x="6274191" y="3752836"/>
            <a:ext cx="0" cy="306671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8F40E65-0258-4815-A012-2FE41ABDBDF4}"/>
              </a:ext>
            </a:extLst>
          </p:cNvPr>
          <p:cNvCxnSpPr>
            <a:cxnSpLocks/>
            <a:stCxn id="28" idx="2"/>
            <a:endCxn id="35" idx="0"/>
          </p:cNvCxnSpPr>
          <p:nvPr/>
        </p:nvCxnSpPr>
        <p:spPr>
          <a:xfrm>
            <a:off x="6274191" y="4427412"/>
            <a:ext cx="0" cy="308367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Rounded Rectangle 16">
            <a:extLst>
              <a:ext uri="{FF2B5EF4-FFF2-40B4-BE49-F238E27FC236}">
                <a16:creationId xmlns:a16="http://schemas.microsoft.com/office/drawing/2014/main" id="{F204C5DB-6042-448D-A563-B34665510E0A}"/>
              </a:ext>
            </a:extLst>
          </p:cNvPr>
          <p:cNvSpPr/>
          <p:nvPr/>
        </p:nvSpPr>
        <p:spPr>
          <a:xfrm>
            <a:off x="4332850" y="4735779"/>
            <a:ext cx="3882682" cy="423034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476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HSRP physically affixed on customers’ vehicle by the dealer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0223A51-9405-4A31-AFE3-3F512B2B62A0}"/>
              </a:ext>
            </a:extLst>
          </p:cNvPr>
          <p:cNvCxnSpPr>
            <a:cxnSpLocks/>
          </p:cNvCxnSpPr>
          <p:nvPr/>
        </p:nvCxnSpPr>
        <p:spPr>
          <a:xfrm flipH="1">
            <a:off x="6274064" y="5151452"/>
            <a:ext cx="126" cy="366437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9" name="Graphic 58" descr="Laptop">
            <a:extLst>
              <a:ext uri="{FF2B5EF4-FFF2-40B4-BE49-F238E27FC236}">
                <a16:creationId xmlns:a16="http://schemas.microsoft.com/office/drawing/2014/main" id="{308F573A-D01F-4A0D-809B-882E008582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52198" y="521585"/>
            <a:ext cx="769404" cy="769404"/>
          </a:xfrm>
          <a:prstGeom prst="rect">
            <a:avLst/>
          </a:prstGeom>
        </p:spPr>
      </p:pic>
      <p:pic>
        <p:nvPicPr>
          <p:cNvPr id="60" name="Picture 59" descr="A close up of a sign&#10;&#10;Description generated with high confidence">
            <a:extLst>
              <a:ext uri="{FF2B5EF4-FFF2-40B4-BE49-F238E27FC236}">
                <a16:creationId xmlns:a16="http://schemas.microsoft.com/office/drawing/2014/main" id="{040EAEBF-BE3F-4423-BEC7-52F4F88CCD2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3027" y="160954"/>
            <a:ext cx="1568478" cy="56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2869579"/>
      </p:ext>
    </p:extLst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Hexagon 32"/>
          <p:cNvSpPr/>
          <p:nvPr/>
        </p:nvSpPr>
        <p:spPr>
          <a:xfrm>
            <a:off x="287972" y="6446520"/>
            <a:ext cx="2011680" cy="304800"/>
          </a:xfrm>
          <a:prstGeom prst="hexagon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Century Gothic" pitchFamily="34" charset="0"/>
              </a:rPr>
              <a:t>www.hsrp.in</a:t>
            </a:r>
          </a:p>
        </p:txBody>
      </p:sp>
      <p:pic>
        <p:nvPicPr>
          <p:cNvPr id="96" name="Picture 95"/>
          <p:cNvPicPr>
            <a:picLocks noChangeAspect="1"/>
          </p:cNvPicPr>
          <p:nvPr/>
        </p:nvPicPr>
        <p:blipFill>
          <a:blip r:embed="rId3" cstate="print">
            <a:lum bright="70000" contrast="-7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185684" y="7461661"/>
            <a:ext cx="264043" cy="274320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526897" y="135376"/>
            <a:ext cx="380595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Century Gothic" panose="020B0502020202020204" pitchFamily="34" charset="0"/>
              </a:rPr>
              <a:t>Update HSRP Process Flow</a:t>
            </a:r>
            <a:endParaRPr lang="en-US" u="sng" dirty="0">
              <a:latin typeface="Century Gothic" panose="020B0502020202020204" pitchFamily="34" charset="0"/>
            </a:endParaRPr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B5937BE2-5541-453F-8B58-B25423BE94E1}"/>
              </a:ext>
            </a:extLst>
          </p:cNvPr>
          <p:cNvCxnSpPr>
            <a:cxnSpLocks/>
          </p:cNvCxnSpPr>
          <p:nvPr/>
        </p:nvCxnSpPr>
        <p:spPr>
          <a:xfrm flipV="1">
            <a:off x="2299652" y="6590029"/>
            <a:ext cx="9289568" cy="889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Hexagon 41">
            <a:extLst>
              <a:ext uri="{FF2B5EF4-FFF2-40B4-BE49-F238E27FC236}">
                <a16:creationId xmlns:a16="http://schemas.microsoft.com/office/drawing/2014/main" id="{ABE445A5-5E7D-4E73-B526-534118C95908}"/>
              </a:ext>
            </a:extLst>
          </p:cNvPr>
          <p:cNvSpPr/>
          <p:nvPr/>
        </p:nvSpPr>
        <p:spPr>
          <a:xfrm>
            <a:off x="11479237" y="6348567"/>
            <a:ext cx="624778" cy="424342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Century Gothic" pitchFamily="34" charset="0"/>
              </a:rPr>
              <a:t>1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6F6DAC6-C4D9-4349-ABDE-B44251F7EB4C}"/>
              </a:ext>
            </a:extLst>
          </p:cNvPr>
          <p:cNvSpPr/>
          <p:nvPr/>
        </p:nvSpPr>
        <p:spPr>
          <a:xfrm>
            <a:off x="123093" y="91442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 lang="en-US" sz="3200" dirty="0">
              <a:latin typeface="Century Gothic" panose="020B0502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21E2658-EF66-4CB7-A924-8A427A67C2F9}"/>
              </a:ext>
            </a:extLst>
          </p:cNvPr>
          <p:cNvSpPr/>
          <p:nvPr/>
        </p:nvSpPr>
        <p:spPr>
          <a:xfrm>
            <a:off x="103897" y="55453"/>
            <a:ext cx="4683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“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E3E7863-AB85-4586-BFC3-456AECC769DC}"/>
              </a:ext>
            </a:extLst>
          </p:cNvPr>
          <p:cNvSpPr txBox="1"/>
          <p:nvPr/>
        </p:nvSpPr>
        <p:spPr>
          <a:xfrm>
            <a:off x="10514935" y="6337310"/>
            <a:ext cx="1074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/>
              <a:t>Contd.</a:t>
            </a:r>
          </a:p>
        </p:txBody>
      </p:sp>
      <p:sp>
        <p:nvSpPr>
          <p:cNvPr id="37" name="Rounded Rectangle 16">
            <a:extLst>
              <a:ext uri="{FF2B5EF4-FFF2-40B4-BE49-F238E27FC236}">
                <a16:creationId xmlns:a16="http://schemas.microsoft.com/office/drawing/2014/main" id="{2182220D-AEBF-4C16-B88F-4B687D9BE6DB}"/>
              </a:ext>
            </a:extLst>
          </p:cNvPr>
          <p:cNvSpPr/>
          <p:nvPr/>
        </p:nvSpPr>
        <p:spPr>
          <a:xfrm>
            <a:off x="3245310" y="2442382"/>
            <a:ext cx="3432265" cy="367906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50800" cap="rnd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Dealer to use FTA HSRP affixation date updation portal and update HSRP affixation date.</a:t>
            </a:r>
          </a:p>
        </p:txBody>
      </p:sp>
      <p:pic>
        <p:nvPicPr>
          <p:cNvPr id="38" name="Graphic 37" descr="Database">
            <a:extLst>
              <a:ext uri="{FF2B5EF4-FFF2-40B4-BE49-F238E27FC236}">
                <a16:creationId xmlns:a16="http://schemas.microsoft.com/office/drawing/2014/main" id="{2C15A563-0D6B-4D12-86DD-F28E7CEBBC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27435" y="5519683"/>
            <a:ext cx="914400" cy="914400"/>
          </a:xfrm>
          <a:prstGeom prst="rect">
            <a:avLst/>
          </a:prstGeom>
        </p:spPr>
      </p:pic>
      <p:sp>
        <p:nvSpPr>
          <p:cNvPr id="39" name="Rounded Rectangle 16">
            <a:extLst>
              <a:ext uri="{FF2B5EF4-FFF2-40B4-BE49-F238E27FC236}">
                <a16:creationId xmlns:a16="http://schemas.microsoft.com/office/drawing/2014/main" id="{5ACF1F55-6F73-4F36-9554-A211224EE593}"/>
              </a:ext>
            </a:extLst>
          </p:cNvPr>
          <p:cNvSpPr/>
          <p:nvPr/>
        </p:nvSpPr>
        <p:spPr>
          <a:xfrm>
            <a:off x="7897412" y="893859"/>
            <a:ext cx="2917694" cy="476614"/>
          </a:xfrm>
          <a:prstGeom prst="roundRect">
            <a:avLst>
              <a:gd name="adj" fmla="val 50000"/>
            </a:avLst>
          </a:prstGeom>
          <a:solidFill>
            <a:srgbClr val="0070C0"/>
          </a:solidFill>
          <a:ln w="4762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Affixation date duly updated in OEM Portal as per OEM defined process.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9B530E5-C5F0-4D7A-BF37-F94674C7C8FD}"/>
              </a:ext>
            </a:extLst>
          </p:cNvPr>
          <p:cNvCxnSpPr>
            <a:cxnSpLocks/>
            <a:stCxn id="39" idx="2"/>
            <a:endCxn id="46" idx="0"/>
          </p:cNvCxnSpPr>
          <p:nvPr/>
        </p:nvCxnSpPr>
        <p:spPr>
          <a:xfrm flipH="1">
            <a:off x="9350672" y="1370473"/>
            <a:ext cx="5587" cy="2134440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CDC7805-B6B0-4C10-95CC-4D064A5F80B7}"/>
              </a:ext>
            </a:extLst>
          </p:cNvPr>
          <p:cNvSpPr txBox="1"/>
          <p:nvPr/>
        </p:nvSpPr>
        <p:spPr>
          <a:xfrm>
            <a:off x="4382211" y="6295548"/>
            <a:ext cx="1636294" cy="307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1" b="1" dirty="0">
                <a:solidFill>
                  <a:srgbClr val="0070C0"/>
                </a:solidFill>
              </a:rPr>
              <a:t>VAHAN Server</a:t>
            </a:r>
          </a:p>
        </p:txBody>
      </p:sp>
      <p:pic>
        <p:nvPicPr>
          <p:cNvPr id="43" name="Graphic 42" descr="Database">
            <a:extLst>
              <a:ext uri="{FF2B5EF4-FFF2-40B4-BE49-F238E27FC236}">
                <a16:creationId xmlns:a16="http://schemas.microsoft.com/office/drawing/2014/main" id="{CEB8B0EA-3389-4344-B788-2AEAD99AED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07247" y="3504912"/>
            <a:ext cx="914400" cy="91440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1F917465-5B60-4109-9A27-A8BCC9BE6529}"/>
              </a:ext>
            </a:extLst>
          </p:cNvPr>
          <p:cNvSpPr txBox="1"/>
          <p:nvPr/>
        </p:nvSpPr>
        <p:spPr>
          <a:xfrm>
            <a:off x="4539466" y="4308446"/>
            <a:ext cx="1636294" cy="307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1" b="1" dirty="0">
                <a:solidFill>
                  <a:srgbClr val="0070C0"/>
                </a:solidFill>
              </a:rPr>
              <a:t>FTA Server</a:t>
            </a:r>
          </a:p>
        </p:txBody>
      </p:sp>
      <p:pic>
        <p:nvPicPr>
          <p:cNvPr id="46" name="Graphic 45" descr="Database">
            <a:extLst>
              <a:ext uri="{FF2B5EF4-FFF2-40B4-BE49-F238E27FC236}">
                <a16:creationId xmlns:a16="http://schemas.microsoft.com/office/drawing/2014/main" id="{C3DA2BE6-77F9-4C89-BD05-2C64106D1D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3472" y="3504913"/>
            <a:ext cx="914400" cy="91440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4B824163-E806-4BE7-90E4-7B160C34846D}"/>
              </a:ext>
            </a:extLst>
          </p:cNvPr>
          <p:cNvSpPr txBox="1"/>
          <p:nvPr/>
        </p:nvSpPr>
        <p:spPr>
          <a:xfrm>
            <a:off x="8858995" y="4292724"/>
            <a:ext cx="1636294" cy="307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1" b="1" dirty="0">
                <a:solidFill>
                  <a:srgbClr val="0070C0"/>
                </a:solidFill>
              </a:rPr>
              <a:t>OEM Server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71A6A88-C6EB-4FB5-B11F-928B94A9E2AD}"/>
              </a:ext>
            </a:extLst>
          </p:cNvPr>
          <p:cNvCxnSpPr>
            <a:cxnSpLocks/>
            <a:stCxn id="46" idx="1"/>
            <a:endCxn id="43" idx="3"/>
          </p:cNvCxnSpPr>
          <p:nvPr/>
        </p:nvCxnSpPr>
        <p:spPr>
          <a:xfrm flipH="1" flipV="1">
            <a:off x="5421647" y="3962112"/>
            <a:ext cx="3471825" cy="1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3A8EF2E2-E4DB-44C9-8E42-5330A2B86B9B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4984635" y="4616224"/>
            <a:ext cx="0" cy="903461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C1953011-D88A-4F50-9DAE-B6771EAE010A}"/>
              </a:ext>
            </a:extLst>
          </p:cNvPr>
          <p:cNvSpPr txBox="1"/>
          <p:nvPr/>
        </p:nvSpPr>
        <p:spPr>
          <a:xfrm>
            <a:off x="5570055" y="3502306"/>
            <a:ext cx="3283351" cy="461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99" dirty="0"/>
              <a:t>FTA to receive HSRP affixation date against the Registration number from the OEM server.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65A403D-736A-402E-8867-788103B54AAF}"/>
              </a:ext>
            </a:extLst>
          </p:cNvPr>
          <p:cNvSpPr txBox="1"/>
          <p:nvPr/>
        </p:nvSpPr>
        <p:spPr>
          <a:xfrm>
            <a:off x="2285415" y="4925605"/>
            <a:ext cx="568771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200" dirty="0"/>
              <a:t>Auto scheduler to update the HSRP affixation date along with the Registration number in the VAHAN Server through Web Services</a:t>
            </a:r>
          </a:p>
        </p:txBody>
      </p:sp>
      <p:sp>
        <p:nvSpPr>
          <p:cNvPr id="53" name="Flowchart: Decision 52">
            <a:extLst>
              <a:ext uri="{FF2B5EF4-FFF2-40B4-BE49-F238E27FC236}">
                <a16:creationId xmlns:a16="http://schemas.microsoft.com/office/drawing/2014/main" id="{7A42AF38-2768-46A8-8AF6-E881062B58B1}"/>
              </a:ext>
            </a:extLst>
          </p:cNvPr>
          <p:cNvSpPr/>
          <p:nvPr/>
        </p:nvSpPr>
        <p:spPr>
          <a:xfrm>
            <a:off x="3594140" y="495532"/>
            <a:ext cx="2743255" cy="1271292"/>
          </a:xfrm>
          <a:prstGeom prst="flowChartDecision">
            <a:avLst/>
          </a:prstGeom>
          <a:solidFill>
            <a:srgbClr val="0070C0"/>
          </a:solidFill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100" dirty="0"/>
              <a:t>Is the Dealer using the FTA HSRP portal for ordering Embossed HSRP?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1BF2FDA-00A6-4861-AE6D-A643AC356B55}"/>
              </a:ext>
            </a:extLst>
          </p:cNvPr>
          <p:cNvCxnSpPr>
            <a:cxnSpLocks/>
            <a:stCxn id="53" idx="2"/>
            <a:endCxn id="37" idx="0"/>
          </p:cNvCxnSpPr>
          <p:nvPr/>
        </p:nvCxnSpPr>
        <p:spPr>
          <a:xfrm flipH="1">
            <a:off x="4961443" y="1766824"/>
            <a:ext cx="4325" cy="675558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8607B30-E183-4DC1-AB4B-FBCA4EF64595}"/>
              </a:ext>
            </a:extLst>
          </p:cNvPr>
          <p:cNvCxnSpPr>
            <a:cxnSpLocks/>
            <a:stCxn id="37" idx="2"/>
            <a:endCxn id="43" idx="0"/>
          </p:cNvCxnSpPr>
          <p:nvPr/>
        </p:nvCxnSpPr>
        <p:spPr>
          <a:xfrm>
            <a:off x="4961443" y="2810288"/>
            <a:ext cx="3004" cy="694624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34A8CA4-E0DE-49E9-9422-972AD396DA48}"/>
              </a:ext>
            </a:extLst>
          </p:cNvPr>
          <p:cNvCxnSpPr>
            <a:cxnSpLocks/>
            <a:stCxn id="53" idx="3"/>
            <a:endCxn id="39" idx="1"/>
          </p:cNvCxnSpPr>
          <p:nvPr/>
        </p:nvCxnSpPr>
        <p:spPr>
          <a:xfrm>
            <a:off x="6337395" y="1131178"/>
            <a:ext cx="1560017" cy="988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E7B6FB66-4353-42B7-B152-C8720F87F7E1}"/>
              </a:ext>
            </a:extLst>
          </p:cNvPr>
          <p:cNvSpPr txBox="1"/>
          <p:nvPr/>
        </p:nvSpPr>
        <p:spPr>
          <a:xfrm>
            <a:off x="4523289" y="1919905"/>
            <a:ext cx="905209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Yes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EF04DD8-AB21-46D6-8D16-FF9427C7B0EF}"/>
              </a:ext>
            </a:extLst>
          </p:cNvPr>
          <p:cNvSpPr txBox="1"/>
          <p:nvPr/>
        </p:nvSpPr>
        <p:spPr>
          <a:xfrm>
            <a:off x="6831551" y="980806"/>
            <a:ext cx="487842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/>
              <a:t>No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0CD69D35-849E-4373-A3B4-C5A0D6E54567}"/>
              </a:ext>
            </a:extLst>
          </p:cNvPr>
          <p:cNvCxnSpPr>
            <a:cxnSpLocks/>
          </p:cNvCxnSpPr>
          <p:nvPr/>
        </p:nvCxnSpPr>
        <p:spPr>
          <a:xfrm>
            <a:off x="4951828" y="184352"/>
            <a:ext cx="0" cy="319525"/>
          </a:xfrm>
          <a:prstGeom prst="straightConnector1">
            <a:avLst/>
          </a:prstGeom>
          <a:ln w="25400">
            <a:solidFill>
              <a:schemeClr val="tx1">
                <a:lumMod val="75000"/>
                <a:lumOff val="25000"/>
              </a:schemeClr>
            </a:solidFill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3" name="Picture 62" descr="A close up of a sign&#10;&#10;Description generated with high confidence">
            <a:extLst>
              <a:ext uri="{FF2B5EF4-FFF2-40B4-BE49-F238E27FC236}">
                <a16:creationId xmlns:a16="http://schemas.microsoft.com/office/drawing/2014/main" id="{6F9E6A4E-89D3-4026-B90D-CD9268009CF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3027" y="160954"/>
            <a:ext cx="1568478" cy="56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906182"/>
      </p:ext>
    </p:extLst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Hexagon 32"/>
          <p:cNvSpPr/>
          <p:nvPr/>
        </p:nvSpPr>
        <p:spPr>
          <a:xfrm>
            <a:off x="287972" y="6446520"/>
            <a:ext cx="2011680" cy="304800"/>
          </a:xfrm>
          <a:prstGeom prst="hexagon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itchFamily="34" charset="0"/>
                <a:ea typeface="+mn-ea"/>
                <a:cs typeface="+mn-cs"/>
              </a:rPr>
              <a:t>www.hsrp.in</a:t>
            </a:r>
          </a:p>
        </p:txBody>
      </p:sp>
      <p:cxnSp>
        <p:nvCxnSpPr>
          <p:cNvPr id="36" name="Straight Connector 35"/>
          <p:cNvCxnSpPr>
            <a:cxnSpLocks/>
            <a:stCxn id="33" idx="0"/>
          </p:cNvCxnSpPr>
          <p:nvPr/>
        </p:nvCxnSpPr>
        <p:spPr>
          <a:xfrm flipV="1">
            <a:off x="2299652" y="6590029"/>
            <a:ext cx="9289568" cy="889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75022" y="135376"/>
            <a:ext cx="1003201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HSRP Affixation Through Web Portal (Dealer’s Login)</a:t>
            </a:r>
            <a:endParaRPr kumimoji="0" lang="en-US" sz="18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123093" y="91442"/>
            <a:ext cx="457200" cy="4572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03897" y="55453"/>
            <a:ext cx="46839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“</a:t>
            </a:r>
          </a:p>
        </p:txBody>
      </p:sp>
      <p:sp>
        <p:nvSpPr>
          <p:cNvPr id="12" name="Hexagon 11">
            <a:extLst>
              <a:ext uri="{FF2B5EF4-FFF2-40B4-BE49-F238E27FC236}">
                <a16:creationId xmlns:a16="http://schemas.microsoft.com/office/drawing/2014/main" id="{8992E2FE-3E3A-4F7F-8FE3-F433DDAA86D8}"/>
              </a:ext>
            </a:extLst>
          </p:cNvPr>
          <p:cNvSpPr/>
          <p:nvPr/>
        </p:nvSpPr>
        <p:spPr>
          <a:xfrm>
            <a:off x="11451102" y="6407149"/>
            <a:ext cx="503878" cy="365760"/>
          </a:xfrm>
          <a:prstGeom prst="hexagon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solidFill>
                  <a:prstClr val="white"/>
                </a:solidFill>
                <a:latin typeface="Century Gothic" pitchFamily="34" charset="0"/>
              </a:rPr>
              <a:t>9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itchFamily="34" charset="0"/>
              <a:ea typeface="+mn-ea"/>
              <a:cs typeface="+mn-cs"/>
            </a:endParaRPr>
          </a:p>
        </p:txBody>
      </p:sp>
      <p:pic>
        <p:nvPicPr>
          <p:cNvPr id="4" name="Picture 3" descr="A screen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A8A308A7-0BF6-4204-8C63-9BEBAB9B59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63" y="731523"/>
            <a:ext cx="10691446" cy="5219112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3AB4BBAC-C438-435A-B161-4B6238E72359}"/>
              </a:ext>
            </a:extLst>
          </p:cNvPr>
          <p:cNvSpPr/>
          <p:nvPr/>
        </p:nvSpPr>
        <p:spPr>
          <a:xfrm>
            <a:off x="535090" y="2571611"/>
            <a:ext cx="1263226" cy="1939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Callout: Left Arrow 37">
            <a:extLst>
              <a:ext uri="{FF2B5EF4-FFF2-40B4-BE49-F238E27FC236}">
                <a16:creationId xmlns:a16="http://schemas.microsoft.com/office/drawing/2014/main" id="{7164D48F-7115-4D9A-B04D-5255FF01FB72}"/>
              </a:ext>
            </a:extLst>
          </p:cNvPr>
          <p:cNvSpPr/>
          <p:nvPr/>
        </p:nvSpPr>
        <p:spPr>
          <a:xfrm>
            <a:off x="8232753" y="2158940"/>
            <a:ext cx="2374285" cy="696010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838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Enter Registration Number To Be Closed</a:t>
            </a:r>
            <a:endParaRPr lang="en-IN" sz="1200" dirty="0"/>
          </a:p>
        </p:txBody>
      </p:sp>
      <p:sp>
        <p:nvSpPr>
          <p:cNvPr id="39" name="Speech Bubble: Rectangle 38">
            <a:extLst>
              <a:ext uri="{FF2B5EF4-FFF2-40B4-BE49-F238E27FC236}">
                <a16:creationId xmlns:a16="http://schemas.microsoft.com/office/drawing/2014/main" id="{C2BE273A-BF08-4F02-886B-7F34844F2B56}"/>
              </a:ext>
            </a:extLst>
          </p:cNvPr>
          <p:cNvSpPr/>
          <p:nvPr/>
        </p:nvSpPr>
        <p:spPr>
          <a:xfrm>
            <a:off x="7698864" y="4794455"/>
            <a:ext cx="2908174" cy="396523"/>
          </a:xfrm>
          <a:prstGeom prst="wedgeRectCallout">
            <a:avLst>
              <a:gd name="adj1" fmla="val 21999"/>
              <a:gd name="adj2" fmla="val -82240"/>
            </a:avLst>
          </a:prstGeom>
          <a:solidFill>
            <a:schemeClr val="accent1">
              <a:lumMod val="75000"/>
            </a:schemeClr>
          </a:solidFill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Century Gothic" panose="020B0502020202020204" pitchFamily="34" charset="0"/>
              </a:rPr>
              <a:t>Select Fitment Date &amp; Click on CLOSE Button</a:t>
            </a:r>
            <a:endParaRPr lang="en-IN" sz="1200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41" name="Picture 40" descr="A close up of a sign&#10;&#10;Description generated with high confidence">
            <a:extLst>
              <a:ext uri="{FF2B5EF4-FFF2-40B4-BE49-F238E27FC236}">
                <a16:creationId xmlns:a16="http://schemas.microsoft.com/office/drawing/2014/main" id="{CE082A3B-E3FE-409E-AC9D-2AE671A9D2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435" y="118750"/>
            <a:ext cx="1568478" cy="56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332824"/>
      </p:ext>
    </p:extLst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/>
          <p:cNvCxnSpPr/>
          <p:nvPr/>
        </p:nvCxnSpPr>
        <p:spPr>
          <a:xfrm>
            <a:off x="1301568" y="4813432"/>
            <a:ext cx="9457315" cy="0"/>
          </a:xfrm>
          <a:prstGeom prst="line">
            <a:avLst/>
          </a:prstGeom>
          <a:ln w="158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5938785" y="4721992"/>
            <a:ext cx="182880" cy="182880"/>
          </a:xfrm>
          <a:prstGeom prst="ellipse">
            <a:avLst/>
          </a:prstGeom>
          <a:solidFill>
            <a:srgbClr val="0070C0"/>
          </a:solidFill>
          <a:ln w="1174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/>
        </p:nvCxnSpPr>
        <p:spPr>
          <a:xfrm>
            <a:off x="1301568" y="3416950"/>
            <a:ext cx="9457315" cy="0"/>
          </a:xfrm>
          <a:prstGeom prst="line">
            <a:avLst/>
          </a:prstGeom>
          <a:ln w="158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938785" y="3325510"/>
            <a:ext cx="182880" cy="182880"/>
          </a:xfrm>
          <a:prstGeom prst="ellipse">
            <a:avLst/>
          </a:prstGeom>
          <a:solidFill>
            <a:srgbClr val="0070C0"/>
          </a:solidFill>
          <a:ln w="1174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255060" y="4904424"/>
            <a:ext cx="950382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Century Gothic" pitchFamily="34" charset="0"/>
              </a:rPr>
              <a:t>FTA HSRP Solutions Pvt. Ltd.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entury Gothic" pitchFamily="34" charset="0"/>
              </a:rPr>
              <a:t>Plot No B-225/226, GIDC Electronic Estate,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entury Gothic" pitchFamily="34" charset="0"/>
              </a:rPr>
              <a:t>Sector – 25, Gandhinagar - 382024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3130" y="3872753"/>
            <a:ext cx="5145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Century Gothic" pitchFamily="34" charset="0"/>
              </a:rPr>
              <a:t>THANK YOU</a:t>
            </a:r>
          </a:p>
        </p:txBody>
      </p:sp>
      <p:pic>
        <p:nvPicPr>
          <p:cNvPr id="9" name="Picture 8" descr="A close up of a sign&#10;&#10;Description generated with high confidence">
            <a:extLst>
              <a:ext uri="{FF2B5EF4-FFF2-40B4-BE49-F238E27FC236}">
                <a16:creationId xmlns:a16="http://schemas.microsoft.com/office/drawing/2014/main" id="{F8C1179D-1856-472F-A83F-38D79C9740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1662" y="1505243"/>
            <a:ext cx="2321169" cy="116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594522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10222</TotalTime>
  <Words>238</Words>
  <Application>Microsoft Office PowerPoint</Application>
  <PresentationFormat>Widescreen</PresentationFormat>
  <Paragraphs>42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Finance3.Corp</dc:creator>
  <cp:lastModifiedBy>IT Support</cp:lastModifiedBy>
  <cp:revision>1420</cp:revision>
  <dcterms:created xsi:type="dcterms:W3CDTF">2017-09-05T04:17:31Z</dcterms:created>
  <dcterms:modified xsi:type="dcterms:W3CDTF">2019-11-26T12:11:44Z</dcterms:modified>
</cp:coreProperties>
</file>